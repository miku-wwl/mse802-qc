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6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3750DA-0839-46C8-9175-17DA06E0D811}" v="6" dt="2026-04-11T20:36:46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umar" userId="S::arun.kumar@yoobeecolleges.com::d3f9736e-b973-4cd0-9644-e233f9d995f8" providerId="AD" clId="Web-{E93750DA-0839-46C8-9175-17DA06E0D811}"/>
    <pc:docChg chg="addSld delSld sldOrd">
      <pc:chgData name="Arun Kumar" userId="S::arun.kumar@yoobeecolleges.com::d3f9736e-b973-4cd0-9644-e233f9d995f8" providerId="AD" clId="Web-{E93750DA-0839-46C8-9175-17DA06E0D811}" dt="2026-04-11T20:36:46.502" v="5"/>
      <pc:docMkLst>
        <pc:docMk/>
      </pc:docMkLst>
      <pc:sldChg chg="del">
        <pc:chgData name="Arun Kumar" userId="S::arun.kumar@yoobeecolleges.com::d3f9736e-b973-4cd0-9644-e233f9d995f8" providerId="AD" clId="Web-{E93750DA-0839-46C8-9175-17DA06E0D811}" dt="2026-04-11T20:35:06.673" v="0"/>
        <pc:sldMkLst>
          <pc:docMk/>
          <pc:sldMk cId="0" sldId="263"/>
        </pc:sldMkLst>
      </pc:sldChg>
      <pc:sldChg chg="add ord">
        <pc:chgData name="Arun Kumar" userId="S::arun.kumar@yoobeecolleges.com::d3f9736e-b973-4cd0-9644-e233f9d995f8" providerId="AD" clId="Web-{E93750DA-0839-46C8-9175-17DA06E0D811}" dt="2026-04-11T20:36:46.502" v="5"/>
        <pc:sldMkLst>
          <pc:docMk/>
          <pc:sldMk cId="349165542" sldId="265"/>
        </pc:sldMkLst>
      </pc:sldChg>
      <pc:sldChg chg="add">
        <pc:chgData name="Arun Kumar" userId="S::arun.kumar@yoobeecolleges.com::d3f9736e-b973-4cd0-9644-e233f9d995f8" providerId="AD" clId="Web-{E93750DA-0839-46C8-9175-17DA06E0D811}" dt="2026-04-11T20:35:52.173" v="2"/>
        <pc:sldMkLst>
          <pc:docMk/>
          <pc:sldMk cId="4064574112" sldId="266"/>
        </pc:sldMkLst>
      </pc:sldChg>
      <pc:sldChg chg="add">
        <pc:chgData name="Arun Kumar" userId="S::arun.kumar@yoobeecolleges.com::d3f9736e-b973-4cd0-9644-e233f9d995f8" providerId="AD" clId="Web-{E93750DA-0839-46C8-9175-17DA06E0D811}" dt="2026-04-11T20:36:21.752" v="3"/>
        <pc:sldMkLst>
          <pc:docMk/>
          <pc:sldMk cId="2850431696" sldId="267"/>
        </pc:sldMkLst>
      </pc:sldChg>
      <pc:sldChg chg="add">
        <pc:chgData name="Arun Kumar" userId="S::arun.kumar@yoobeecolleges.com::d3f9736e-b973-4cd0-9644-e233f9d995f8" providerId="AD" clId="Web-{E93750DA-0839-46C8-9175-17DA06E0D811}" dt="2026-04-11T20:36:32.955" v="4"/>
        <pc:sldMkLst>
          <pc:docMk/>
          <pc:sldMk cId="4036432378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70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2286000" cy="22860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38BDF8">
              <a:alpha val="13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1920240" cy="1920240"/>
          </a:xfrm>
          <a:prstGeom prst="ellipse">
            <a:avLst/>
          </a:prstGeom>
          <a:solidFill>
            <a:srgbClr val="38BDF8">
              <a:alpha val="11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6766560" y="2377440"/>
            <a:ext cx="1737360" cy="173736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7040880" y="3017520"/>
            <a:ext cx="1554480" cy="1554480"/>
          </a:xfrm>
          <a:prstGeom prst="ellipse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64008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Conventional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Computing Stack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Human Problems to Electrons — Layer by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How Computers Really 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STACK — 9 LAYERS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960120" cy="3840480"/>
          </a:xfrm>
          <a:prstGeom prst="rect">
            <a:avLst/>
          </a:prstGeom>
          <a:solidFill>
            <a:srgbClr val="38BDF8">
              <a:alpha val="22000"/>
            </a:srgbClr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96012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challenge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07008" y="822960"/>
            <a:ext cx="960120" cy="3840480"/>
          </a:xfrm>
          <a:prstGeom prst="rect">
            <a:avLst/>
          </a:prstGeom>
          <a:solidFill>
            <a:srgbClr val="818CF8">
              <a:alpha val="22000"/>
            </a:srgbClr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Shape 8"/>
          <p:cNvSpPr/>
          <p:nvPr/>
        </p:nvSpPr>
        <p:spPr>
          <a:xfrm>
            <a:off x="1207008" y="822960"/>
            <a:ext cx="960120" cy="320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207008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43584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43584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85416" y="822960"/>
            <a:ext cx="960120" cy="3840480"/>
          </a:xfrm>
          <a:prstGeom prst="rect">
            <a:avLst/>
          </a:prstGeom>
          <a:solidFill>
            <a:srgbClr val="60A5FA">
              <a:alpha val="22000"/>
            </a:srgbClr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2185416" y="822960"/>
            <a:ext cx="960120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2185416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1992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/ Language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21992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syntax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63824" y="822960"/>
            <a:ext cx="960120" cy="3840480"/>
          </a:xfrm>
          <a:prstGeom prst="rect">
            <a:avLst/>
          </a:prstGeom>
          <a:solidFill>
            <a:srgbClr val="34D399">
              <a:alpha val="22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0" name="Shape 18"/>
          <p:cNvSpPr/>
          <p:nvPr/>
        </p:nvSpPr>
        <p:spPr>
          <a:xfrm>
            <a:off x="3163824" y="822960"/>
            <a:ext cx="9601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Text 19"/>
          <p:cNvSpPr/>
          <p:nvPr/>
        </p:nvSpPr>
        <p:spPr>
          <a:xfrm>
            <a:off x="3163824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Software (OS)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42232" y="822960"/>
            <a:ext cx="960120" cy="3840480"/>
          </a:xfrm>
          <a:prstGeom prst="rect">
            <a:avLst/>
          </a:prstGeom>
          <a:solidFill>
            <a:srgbClr val="FBBF24">
              <a:alpha val="22000"/>
            </a:srgbClr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Shape 23"/>
          <p:cNvSpPr/>
          <p:nvPr/>
        </p:nvSpPr>
        <p:spPr>
          <a:xfrm>
            <a:off x="4142232" y="822960"/>
            <a:ext cx="960120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4"/>
          <p:cNvSpPr/>
          <p:nvPr/>
        </p:nvSpPr>
        <p:spPr>
          <a:xfrm>
            <a:off x="4142232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78808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78808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↔ Hardware interface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20640" y="822960"/>
            <a:ext cx="960120" cy="3840480"/>
          </a:xfrm>
          <a:prstGeom prst="rect">
            <a:avLst/>
          </a:prstGeom>
          <a:solidFill>
            <a:srgbClr val="FB923C">
              <a:alpha val="22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Shape 28"/>
          <p:cNvSpPr/>
          <p:nvPr/>
        </p:nvSpPr>
        <p:spPr>
          <a:xfrm>
            <a:off x="5120640" y="822960"/>
            <a:ext cx="960120" cy="3200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1" name="Text 29"/>
          <p:cNvSpPr/>
          <p:nvPr/>
        </p:nvSpPr>
        <p:spPr>
          <a:xfrm>
            <a:off x="5120640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Microarchitecture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57216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implementation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99048" y="822960"/>
            <a:ext cx="960120" cy="3840480"/>
          </a:xfrm>
          <a:prstGeom prst="rect">
            <a:avLst/>
          </a:prstGeom>
          <a:solidFill>
            <a:srgbClr val="F472B6">
              <a:alpha val="22000"/>
            </a:srgbClr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5" name="Shape 33"/>
          <p:cNvSpPr/>
          <p:nvPr/>
        </p:nvSpPr>
        <p:spPr>
          <a:xfrm>
            <a:off x="6099048" y="822960"/>
            <a:ext cx="960120" cy="320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6" name="Text 34"/>
          <p:cNvSpPr/>
          <p:nvPr/>
        </p:nvSpPr>
        <p:spPr>
          <a:xfrm>
            <a:off x="6099048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35624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(Digital Design)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35624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&amp; circuits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77456" y="822960"/>
            <a:ext cx="960120" cy="3840480"/>
          </a:xfrm>
          <a:prstGeom prst="rect">
            <a:avLst/>
          </a:prstGeom>
          <a:solidFill>
            <a:srgbClr val="A78BFA">
              <a:alpha val="22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0" name="Shape 38"/>
          <p:cNvSpPr/>
          <p:nvPr/>
        </p:nvSpPr>
        <p:spPr>
          <a:xfrm>
            <a:off x="7077456" y="822960"/>
            <a:ext cx="96012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1" name="Text 39"/>
          <p:cNvSpPr/>
          <p:nvPr/>
        </p:nvSpPr>
        <p:spPr>
          <a:xfrm>
            <a:off x="7077456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14032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14032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&amp; capacitors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55864" y="822960"/>
            <a:ext cx="960120" cy="3840480"/>
          </a:xfrm>
          <a:prstGeom prst="rect">
            <a:avLst/>
          </a:prstGeom>
          <a:solidFill>
            <a:srgbClr val="F87171">
              <a:alpha val="22000"/>
            </a:srgbClr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5" name="Shape 43"/>
          <p:cNvSpPr/>
          <p:nvPr/>
        </p:nvSpPr>
        <p:spPr>
          <a:xfrm>
            <a:off x="8055864" y="822960"/>
            <a:ext cx="9601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6" name="Text 44"/>
          <p:cNvSpPr/>
          <p:nvPr/>
        </p:nvSpPr>
        <p:spPr>
          <a:xfrm>
            <a:off x="8055864" y="8229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92440" y="1234440"/>
            <a:ext cx="886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92440" y="3200400"/>
            <a:ext cx="88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&amp; physics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" y="4663440"/>
            <a:ext cx="397764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0" name="Text 48"/>
          <p:cNvSpPr/>
          <p:nvPr/>
        </p:nvSpPr>
        <p:spPr>
          <a:xfrm>
            <a:off x="228600" y="4681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33672" y="4663440"/>
            <a:ext cx="4681728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2" name="Text 50"/>
          <p:cNvSpPr/>
          <p:nvPr/>
        </p:nvSpPr>
        <p:spPr>
          <a:xfrm>
            <a:off x="4233672" y="468172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1 &amp; 2: PROBLEM + ALGORITHM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1: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challenge to solve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 — not technical yet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traffic prediction, AI model, banking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everything below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4846320" y="822960"/>
            <a:ext cx="393192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972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2: Algorithm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problem into logical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hardware agnostic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sorting, searching, ML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efficient computation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3 &amp; 4: PROGRAM / LANGUAGE + SYSTEM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0A5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3: Program / Language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 in code (Python, C++, Java)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or interpreted into machine 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syntax, data structures, libraries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human logic and machine execution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4846320" y="822960"/>
            <a:ext cx="393192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972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4: System Software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(Windows, Linux, macOS)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&amp; process scheduling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provide abstraction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software and hardware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5: ISA — THE CRITICAL BRIDGE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 Set Architecture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language the CPU understands"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834640"/>
            <a:ext cx="2651760" cy="1965960"/>
          </a:xfrm>
          <a:prstGeom prst="rect">
            <a:avLst/>
          </a:prstGeom>
          <a:solidFill>
            <a:srgbClr val="FBBF24">
              <a:alpha val="15000"/>
            </a:srgbClr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365760" y="2834640"/>
            <a:ext cx="26517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6"/>
          <p:cNvSpPr/>
          <p:nvPr/>
        </p:nvSpPr>
        <p:spPr>
          <a:xfrm>
            <a:off x="457200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Defines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LOAD, STORE instructions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&amp; data types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addressing modes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834640"/>
            <a:ext cx="2651760" cy="1965960"/>
          </a:xfrm>
          <a:prstGeom prst="rect">
            <a:avLst/>
          </a:prstGeom>
          <a:solidFill>
            <a:srgbClr val="FB923C">
              <a:alpha val="15000"/>
            </a:srgbClr>
          </a:solidFill>
          <a:ln w="190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2" name="Shape 9"/>
          <p:cNvSpPr/>
          <p:nvPr/>
        </p:nvSpPr>
        <p:spPr>
          <a:xfrm>
            <a:off x="3200400" y="2834640"/>
            <a:ext cx="265176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3291840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Examples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— Intel &amp; AMD desktop/server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— Mobile &amp; Apple Silicon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— Open-source ISA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834640"/>
            <a:ext cx="2651760" cy="1965960"/>
          </a:xfrm>
          <a:prstGeom prst="rect">
            <a:avLst/>
          </a:prstGeom>
          <a:solidFill>
            <a:srgbClr val="F472B6">
              <a:alpha val="15000"/>
            </a:srgbClr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6035040" y="2834640"/>
            <a:ext cx="265176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6126480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SW from HW impl.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ISA → code portability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 the full stack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6 &amp; 7: MICROARCHITECTURE + LOGIC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6: Microarchitecture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implementation of ISA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pipelines, caches (L1/L2/L3)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prediction &amp; out-of-order execution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ISA, different perf = different microarch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472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4846320" y="822960"/>
            <a:ext cx="393192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972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7: Logic / Digital Design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logic gates: AND, OR, NOT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adders, multiplexers, control units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via digital circuits on chip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software logic becomes electrical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8 &amp; 9: DEVICES + ELECTRONS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8: Devices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components: transistors &amp; capacitors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logic gates in silicon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hold billions of transistors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nanometre scale (3–5 nm today)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829354"/>
            <a:ext cx="393192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4846320" y="822960"/>
            <a:ext cx="393192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972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9: Electrons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physical 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levels represent 0 and 1 (binary)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physics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 reduces to electron flow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9728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905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7223760" y="731520"/>
            <a:ext cx="2926080" cy="2926080"/>
          </a:xfrm>
          <a:prstGeom prst="ellipse">
            <a:avLst/>
          </a:prstGeom>
          <a:solidFill>
            <a:srgbClr val="F472B6">
              <a:alpha val="12000"/>
            </a:srgbClr>
          </a:solidFill>
          <a:ln w="19050">
            <a:solidFill>
              <a:srgbClr val="F472B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7589520" y="1463040"/>
            <a:ext cx="2194560" cy="2194560"/>
          </a:xfrm>
          <a:prstGeom prst="ellipse">
            <a:avLst/>
          </a:prstGeom>
          <a:solidFill>
            <a:srgbClr val="A78BFA">
              <a:alpha val="15000"/>
            </a:srgbClr>
          </a:solidFill>
          <a:ln w="1905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100584" y="0"/>
            <a:ext cx="32004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457200" y="731520"/>
            <a:ext cx="2560320" cy="347472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STACK — LAYER 8 &amp;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Semiconductors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Doping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silicon becomes a switch — the physics behind every transistor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097280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~1nm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4773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length (TSMC 3nm)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50B+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4773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per chip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 eV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4773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band gap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165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SEMICONDUCTOR?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Conductivity Spectrum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286000" cy="502920"/>
          </a:xfrm>
          <a:prstGeom prst="rect">
            <a:avLst/>
          </a:prstGeom>
          <a:solidFill>
            <a:srgbClr val="6B7280">
              <a:alpha val="40000"/>
            </a:srgbClr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Glass, Rubber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234440"/>
            <a:ext cx="3200400" cy="502920"/>
          </a:xfrm>
          <a:prstGeom prst="rect">
            <a:avLst/>
          </a:prstGeom>
          <a:solidFill>
            <a:srgbClr val="A78BFA">
              <a:alpha val="80000"/>
            </a:srgbClr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2926080" y="1261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Semiconductor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508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Silicon, Germanium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51760" cy="502920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6217920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Copper, Gold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8321040" cy="50292"/>
          </a:xfrm>
          <a:prstGeom prst="rect">
            <a:avLst/>
          </a:prstGeom>
          <a:solidFill>
            <a:srgbClr val="9CA3AF">
              <a:alpha val="6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45720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conductivity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conductivity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2697480" cy="2377440"/>
          </a:xfrm>
          <a:prstGeom prst="rect">
            <a:avLst/>
          </a:prstGeom>
          <a:solidFill>
            <a:srgbClr val="A78BFA">
              <a:alpha val="12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0" name="Text 18"/>
          <p:cNvSpPr/>
          <p:nvPr/>
        </p:nvSpPr>
        <p:spPr>
          <a:xfrm>
            <a:off x="475488" y="25237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" y="29443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can be switched on/off with voltage or heat — perfect for transistors.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423160"/>
            <a:ext cx="2697480" cy="2377440"/>
          </a:xfrm>
          <a:prstGeom prst="rect">
            <a:avLst/>
          </a:prstGeom>
          <a:solidFill>
            <a:srgbClr val="FBBF24">
              <a:alpha val="12000"/>
            </a:srgbClr>
          </a:solidFill>
          <a:ln w="1905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3246120" y="2423160"/>
            <a:ext cx="269748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3355848" y="25237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Silicon (Si)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55848" y="29443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valence electrons. Forms a stable crystal lattice. Most abundant semiconductor element.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423160"/>
            <a:ext cx="2697480" cy="2377440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7" name="Shape 25"/>
          <p:cNvSpPr/>
          <p:nvPr/>
        </p:nvSpPr>
        <p:spPr>
          <a:xfrm>
            <a:off x="6126480" y="2423160"/>
            <a:ext cx="26974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8" name="Text 26"/>
          <p:cNvSpPr/>
          <p:nvPr/>
        </p:nvSpPr>
        <p:spPr>
          <a:xfrm>
            <a:off x="6236208" y="25237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 Gap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36208" y="29443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gap between valence &amp; conduction bands. Silicon's 1.1 eV gap enables room-temperature switching.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457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DOPING — ENGINEERING CONDUCTIVITY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Doping = intentionally adding impurity atoms to pure silicon to control electron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22D3EE">
              <a:alpha val="10000"/>
            </a:srgbClr>
          </a:solidFill>
          <a:ln w="254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438912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N-TYPE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1508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2240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2971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08760" y="233172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0" name="Text 18"/>
          <p:cNvSpPr/>
          <p:nvPr/>
        </p:nvSpPr>
        <p:spPr>
          <a:xfrm>
            <a:off x="15087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233172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22402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71800" y="233172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2971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4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0876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8" name="Text 26"/>
          <p:cNvSpPr/>
          <p:nvPr/>
        </p:nvSpPr>
        <p:spPr>
          <a:xfrm>
            <a:off x="1508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4028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22402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7180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2" name="Text 30"/>
          <p:cNvSpPr/>
          <p:nvPr/>
        </p:nvSpPr>
        <p:spPr>
          <a:xfrm>
            <a:off x="29718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2404872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4" name="Text 32"/>
          <p:cNvSpPr/>
          <p:nvPr/>
        </p:nvSpPr>
        <p:spPr>
          <a:xfrm>
            <a:off x="2148840" y="2404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e⁻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Dopant: Phosphorus (P) or Arsenic (As)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valence electrons — 1 extra electron donated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carriers: FREE ELECTRONS (negative)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flows easily when voltage applied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F472B6">
              <a:alpha val="10000"/>
            </a:srgbClr>
          </a:solidFill>
          <a:ln w="25400">
            <a:solidFill>
              <a:srgbClr val="F472B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7" name="Shape 35"/>
          <p:cNvSpPr/>
          <p:nvPr/>
        </p:nvSpPr>
        <p:spPr>
          <a:xfrm>
            <a:off x="4846320" y="1097280"/>
            <a:ext cx="3931920" cy="438912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8" name="Text 36"/>
          <p:cNvSpPr/>
          <p:nvPr/>
        </p:nvSpPr>
        <p:spPr>
          <a:xfrm>
            <a:off x="4937760" y="1115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P-TYPE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25780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0" name="Text 38"/>
          <p:cNvSpPr/>
          <p:nvPr/>
        </p:nvSpPr>
        <p:spPr>
          <a:xfrm>
            <a:off x="5257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8932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2" name="Text 40"/>
          <p:cNvSpPr/>
          <p:nvPr/>
        </p:nvSpPr>
        <p:spPr>
          <a:xfrm>
            <a:off x="5989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2084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4" name="Text 42"/>
          <p:cNvSpPr/>
          <p:nvPr/>
        </p:nvSpPr>
        <p:spPr>
          <a:xfrm>
            <a:off x="67208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6" name="Text 44"/>
          <p:cNvSpPr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7800" y="233172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8" name="Text 46"/>
          <p:cNvSpPr/>
          <p:nvPr/>
        </p:nvSpPr>
        <p:spPr>
          <a:xfrm>
            <a:off x="5257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89320" y="2331720"/>
            <a:ext cx="502920" cy="5029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0" name="Text 48"/>
          <p:cNvSpPr/>
          <p:nvPr/>
        </p:nvSpPr>
        <p:spPr>
          <a:xfrm>
            <a:off x="59893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0840" y="233172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2" name="Text 50"/>
          <p:cNvSpPr/>
          <p:nvPr/>
        </p:nvSpPr>
        <p:spPr>
          <a:xfrm>
            <a:off x="67208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52360" y="233172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4" name="Text 52"/>
          <p:cNvSpPr/>
          <p:nvPr/>
        </p:nvSpPr>
        <p:spPr>
          <a:xfrm>
            <a:off x="74523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5780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6" name="Text 54"/>
          <p:cNvSpPr/>
          <p:nvPr/>
        </p:nvSpPr>
        <p:spPr>
          <a:xfrm>
            <a:off x="52578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8932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8" name="Text 56"/>
          <p:cNvSpPr/>
          <p:nvPr/>
        </p:nvSpPr>
        <p:spPr>
          <a:xfrm>
            <a:off x="59893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2084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0" name="Text 58"/>
          <p:cNvSpPr/>
          <p:nvPr/>
        </p:nvSpPr>
        <p:spPr>
          <a:xfrm>
            <a:off x="67208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52360" y="2971800"/>
            <a:ext cx="502920" cy="502920"/>
          </a:xfrm>
          <a:prstGeom prst="ellipse">
            <a:avLst/>
          </a:prstGeom>
          <a:solidFill>
            <a:srgbClr val="A78BFA">
              <a:alpha val="4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2" name="Text 60"/>
          <p:cNvSpPr/>
          <p:nvPr/>
        </p:nvSpPr>
        <p:spPr>
          <a:xfrm>
            <a:off x="74523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92240" y="2404872"/>
            <a:ext cx="201168" cy="201168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4" name="Text 62"/>
          <p:cNvSpPr/>
          <p:nvPr/>
        </p:nvSpPr>
        <p:spPr>
          <a:xfrm>
            <a:off x="6720840" y="2404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h⁺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8348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Dopant: Boron (B) or Gallium (Ga)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valence electrons — creates an electron hole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carriers: HOLES (positive charge)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move as electrons fill adjacent gaps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5043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DOPING → TRANSISTORS → CHIPS → COMPUTATION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2606040" cy="1737360"/>
          </a:xfrm>
          <a:prstGeom prst="rect">
            <a:avLst/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521208" y="932688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521208" y="932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96926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Silicon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1481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to 99.9999999%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(9N grade)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44952" y="148132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822960"/>
            <a:ext cx="2606040" cy="1737360"/>
          </a:xfrm>
          <a:prstGeom prst="rect">
            <a:avLst/>
          </a:prstGeom>
          <a:solidFill>
            <a:srgbClr val="FBBF24">
              <a:alpha val="14000"/>
            </a:srgbClr>
          </a:solidFill>
          <a:ln w="19050">
            <a:solidFill>
              <a:srgbClr val="FBBF24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3355848" y="932688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3355848" y="932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67912" y="96926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481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(N)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Boron (P) implanted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79592" y="148132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606040" cy="1737360"/>
          </a:xfrm>
          <a:prstGeom prst="rect">
            <a:avLst/>
          </a:prstGeom>
          <a:solidFill>
            <a:srgbClr val="34D399">
              <a:alpha val="14000"/>
            </a:srgbClr>
          </a:solidFill>
          <a:ln w="19050">
            <a:solidFill>
              <a:srgbClr val="34D3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6190488" y="932688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6190488" y="932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02552" y="96926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P-N Junctions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0488" y="1481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Diodes, enabling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2606040" cy="1737360"/>
          </a:xfrm>
          <a:prstGeom prst="rect">
            <a:avLst/>
          </a:prstGeom>
          <a:solidFill>
            <a:srgbClr val="22D3EE">
              <a:alpha val="14000"/>
            </a:srgbClr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521208" y="2944368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52120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" y="2980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MOSFET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controls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ON/OFF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44952" y="34930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46120" y="2834640"/>
            <a:ext cx="2606040" cy="1737360"/>
          </a:xfrm>
          <a:prstGeom prst="rect">
            <a:avLst/>
          </a:prstGeom>
          <a:solidFill>
            <a:srgbClr val="F472B6">
              <a:alpha val="14000"/>
            </a:srgbClr>
          </a:solidFill>
          <a:ln w="19050">
            <a:solidFill>
              <a:srgbClr val="F472B6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9" name="Shape 27"/>
          <p:cNvSpPr/>
          <p:nvPr/>
        </p:nvSpPr>
        <p:spPr>
          <a:xfrm>
            <a:off x="3355848" y="2944368"/>
            <a:ext cx="420624" cy="42062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335584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67912" y="2980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Gate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55848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NAND/NOR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transistors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79592" y="34930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80760" y="2834640"/>
            <a:ext cx="2606040" cy="1737360"/>
          </a:xfrm>
          <a:prstGeom prst="rect">
            <a:avLst/>
          </a:prstGeom>
          <a:solidFill>
            <a:srgbClr val="F87171">
              <a:alpha val="14000"/>
            </a:srgbClr>
          </a:solidFill>
          <a:ln w="19050">
            <a:solidFill>
              <a:srgbClr val="F87171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5" name="Shape 33"/>
          <p:cNvSpPr/>
          <p:nvPr/>
        </p:nvSpPr>
        <p:spPr>
          <a:xfrm>
            <a:off x="6190488" y="2944368"/>
            <a:ext cx="420624" cy="42062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6" name="Text 34"/>
          <p:cNvSpPr/>
          <p:nvPr/>
        </p:nvSpPr>
        <p:spPr>
          <a:xfrm>
            <a:off x="619048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02552" y="2980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/ Chip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90488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50B+ transistors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3–5nm node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0" name="Text 38"/>
          <p:cNvSpPr/>
          <p:nvPr/>
        </p:nvSpPr>
        <p:spPr>
          <a:xfrm>
            <a:off x="365760" y="4727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chain maps directly to Layers 8–9 (Devices &amp; Electrons) of the Computing Stack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3643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computing stack powerful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206240" cy="1508760"/>
          </a:xfrm>
          <a:prstGeom prst="rect">
            <a:avLst/>
          </a:prstGeom>
          <a:solidFill>
            <a:srgbClr val="38BDF8">
              <a:alpha val="12000"/>
            </a:srgbClr>
          </a:solidFill>
          <a:ln w="1524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48640" cy="1508760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493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 at Every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hides complexity from the one above. Programmers never need to think about electrons; hardware engineers don't need to worry about algorithms.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554480"/>
            <a:ext cx="4206240" cy="1508760"/>
          </a:xfrm>
          <a:prstGeom prst="rect">
            <a:avLst/>
          </a:prstGeom>
          <a:solidFill>
            <a:srgbClr val="FBBF24">
              <a:alpha val="12000"/>
            </a:srgbClr>
          </a:solidFill>
          <a:ln w="1524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548640" cy="1508760"/>
          </a:xfrm>
          <a:prstGeom prst="rect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828032" y="1554480"/>
            <a:ext cx="493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 is the Critical Seam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Set Architecture is where software meets hardware. It enables code portability across different physical implementations.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206240" cy="1508760"/>
          </a:xfrm>
          <a:prstGeom prst="rect">
            <a:avLst/>
          </a:prstGeom>
          <a:solidFill>
            <a:srgbClr val="FB923C">
              <a:alpha val="12000"/>
            </a:srgbClr>
          </a:solidFill>
          <a:ln w="1524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548640" cy="1508760"/>
          </a:xfrm>
          <a:prstGeom prst="rect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393192" y="3246120"/>
            <a:ext cx="493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ISA, Different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CPUs sharing an ISA (e.g. x86) can vary enormously in speed — all due to microarchitecture: pipelines, caches, and branch prediction.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4206240" cy="1508760"/>
          </a:xfrm>
          <a:prstGeom prst="rect">
            <a:avLst/>
          </a:prstGeom>
          <a:solidFill>
            <a:srgbClr val="F87171">
              <a:alpha val="12000"/>
            </a:srgbClr>
          </a:solidFill>
          <a:ln w="15240">
            <a:solidFill>
              <a:srgbClr val="F87171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2" name="Shape 20"/>
          <p:cNvSpPr/>
          <p:nvPr/>
        </p:nvSpPr>
        <p:spPr>
          <a:xfrm>
            <a:off x="4800600" y="3246120"/>
            <a:ext cx="548640" cy="1508760"/>
          </a:xfrm>
          <a:prstGeom prst="rect">
            <a:avLst/>
          </a:prstGeom>
          <a:solidFill>
            <a:srgbClr val="F87171">
              <a:alpha val="4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21"/>
          <p:cNvSpPr/>
          <p:nvPr/>
        </p:nvSpPr>
        <p:spPr>
          <a:xfrm>
            <a:off x="4828032" y="3246120"/>
            <a:ext cx="493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is 0s and 1s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lowest level, all computation reduces to voltage levels — high or low — governed by the physics of electron movement in silicon.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593284A287C84FB43572788B04EE62" ma:contentTypeVersion="11" ma:contentTypeDescription="Create a new document." ma:contentTypeScope="" ma:versionID="6f2171137efbc55e2ff98f75239ff3fc">
  <xsd:schema xmlns:xsd="http://www.w3.org/2001/XMLSchema" xmlns:xs="http://www.w3.org/2001/XMLSchema" xmlns:p="http://schemas.microsoft.com/office/2006/metadata/properties" xmlns:ns2="e59421ec-641c-45a7-9f4c-6677756c5391" xmlns:ns3="671ece8c-0b49-4765-bc52-a6b6e1d5f601" targetNamespace="http://schemas.microsoft.com/office/2006/metadata/properties" ma:root="true" ma:fieldsID="d95d1e602fbbd48edce29862b685009b" ns2:_="" ns3:_="">
    <xsd:import namespace="e59421ec-641c-45a7-9f4c-6677756c5391"/>
    <xsd:import namespace="671ece8c-0b49-4765-bc52-a6b6e1d5f6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9421ec-641c-45a7-9f4c-6677756c53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cd7462e-62a1-445b-83df-7bbe39f9df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1ece8c-0b49-4765-bc52-a6b6e1d5f60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29d9b8-2720-406e-9a59-8115c1bab367}" ma:internalName="TaxCatchAll" ma:showField="CatchAllData" ma:web="671ece8c-0b49-4765-bc52-a6b6e1d5f6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1ece8c-0b49-4765-bc52-a6b6e1d5f601" xsi:nil="true"/>
    <lcf76f155ced4ddcb4097134ff3c332f xmlns="e59421ec-641c-45a7-9f4c-6677756c539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C5DB0B-D05C-4F53-851B-7A4D78EC5A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C4B1FE-C43C-42CC-BDCB-AD7770F56D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9421ec-641c-45a7-9f4c-6677756c5391"/>
    <ds:schemaRef ds:uri="671ece8c-0b49-4765-bc52-a6b6e1d5f6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ABDB03-D700-411F-A817-F619A25E4163}">
  <ds:schemaRefs>
    <ds:schemaRef ds:uri="http://schemas.microsoft.com/office/2006/metadata/properties"/>
    <ds:schemaRef ds:uri="http://schemas.microsoft.com/office/infopath/2007/PartnerControls"/>
    <ds:schemaRef ds:uri="671ece8c-0b49-4765-bc52-a6b6e1d5f601"/>
    <ds:schemaRef ds:uri="e59421ec-641c-45a7-9f4c-6677756c53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PresentationFormat>On-screen Show (16:9)</PresentationFormat>
  <Paragraphs>146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Conventional Computing Stack</dc:title>
  <dc:subject>PptxGenJS Presentation</dc:subject>
  <dc:creator>PptxGenJS</dc:creator>
  <cp:lastModifiedBy>Arun Kumar</cp:lastModifiedBy>
  <cp:revision>8</cp:revision>
  <dcterms:created xsi:type="dcterms:W3CDTF">2026-04-11T20:10:44Z</dcterms:created>
  <dcterms:modified xsi:type="dcterms:W3CDTF">2026-04-11T20:36:52Z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2026-04-11T20:25:43Z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d9537ce1-0c13-4b71-9a1e-4b2b55818e51</vt:lpwstr>
  </property>
  <property fmtid="{D5CDD505-2E9C-101B-9397-08002B2CF9AE}" pid="8" name="MSIP_Label_c96ed6d7-747c-41fd-b042-ff14484edc24_ContentBits">
    <vt:lpwstr>0</vt:lpwstr>
  </property>
  <property fmtid="{D5CDD505-2E9C-101B-9397-08002B2CF9AE}" pid="9" name="ContentTypeId">
    <vt:lpwstr>0x0101000E593284A287C84FB43572788B04EE62</vt:lpwstr>
  </property>
  <property fmtid="{D5CDD505-2E9C-101B-9397-08002B2CF9AE}" pid="10" name="MediaServiceImageTags">
    <vt:lpwstr/>
  </property>
</Properties>
</file>